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quiz review and study guide. We'll go through every question, explain the correct answer, and give you a 'Think About It' framework so you understand the reasoning — not just the answer. Use this to study for retakes or deepen your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 What is the primary function of the recoil starter on a small engine?</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Cranks the engine to start it</a:t>
            </a:r>
          </a:p>
          <a:p/>
          <a:p>
            <a:r>
              <a:t>The recoil starter is the pull-cord mechanism mounted on top of the engine. When you pull it, the rope spins the flywheel, which turns the crankshaft, which moves the piston through its first cycles until the engine fires. Students should remember the physical sensation of pulling it during teardown — that resistance they felt was compression.</a:t>
            </a:r>
          </a:p>
          <a:p/>
          <a:p>
            <a:r>
              <a:t>THINK ABOUT IT: What happens when you pull the starter cord? You're physically spinning the flywheel and crankshaft to get the first combustion cycle going.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 What component covers the top of the engine and directs airflow for cooling?</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Shroud</a:t>
            </a:r>
          </a:p>
          <a:p/>
          <a:p>
            <a:r>
              <a:t>The shroud is the large cover on top of the engine that works with the flywheel fan to direct air across the cylinder fins. Without it, the engine would overheat. During teardown, this was the first thing students removed. It's air-cooled — no radiator — so the shroud is critical.</a:t>
            </a:r>
          </a:p>
          <a:p/>
          <a:p>
            <a:r>
              <a:t>THINK ABOUT IT: Picture the engine from above. What's the big plastic/metal cover that sits over everything and has vents? It channels air from the flywheel fan across the cooling fins.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Q3: What does the fuel tank store?</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Gasoline</a:t>
            </a:r>
          </a:p>
          <a:p/>
          <a:p>
            <a:r>
              <a:t>Straightforward question that reinforces fundamentals. The Predator 212 is a spark-ignition gasoline engine. Engine oil goes in the crankcase through the oil fill cap — it's a completely separate system. This engine is air-cooled so there's no coolant. Hydraulic fluid is used in hydraulic systems like log splitters, not in the engine itself.</a:t>
            </a:r>
          </a:p>
          <a:p/>
          <a:p>
            <a:r>
              <a:t>THINK ABOUT IT: The Predator 212 is a gasoline engine with a spark plug. Oil goes in the crankcase. This engine is air-cooled (no coolant). Hydraulic fluid is for hydraulic systems, not engines.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Q4: What is the purpose of the air filter on a small engine?</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Prevents dirt and debris from entering the carburetor</a:t>
            </a:r>
          </a:p>
          <a:p/>
          <a:p>
            <a:r>
              <a:t>The air filter sits on the intake side before the carburetor. If dirt gets past it, it goes straight into the carburetor jets and then into the cylinder — causing wear and damage. During teardown, students saw how dirty these can get. A clogged air filter restricts airflow and makes the engine run rich.</a:t>
            </a:r>
          </a:p>
          <a:p/>
          <a:p>
            <a:r>
              <a:t>THINK ABOUT IT: Follow the air path: outside air → air filter → carburetor → intake valve → combustion chamber. The filter is the first line of defense on the intake side.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Q5: The spark plug is responsible for:</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Igniting the air-fuel mixture in the combustion chamber</a:t>
            </a:r>
          </a:p>
          <a:p/>
          <a:p>
            <a:r>
              <a:t>The spark plug is the endpoint of the ignition system. The flywheel magnets spin past the ignition coil, generating a high-voltage pulse that travels down the spark plug wire and jumps the gap at the plug tip. This spark ignites the compressed air-fuel mixture during the power stroke. Students should remember the gap measurement from teardown.</a:t>
            </a:r>
          </a:p>
          <a:p/>
          <a:p>
            <a:r>
              <a:t>THINK ABOUT IT: Follow the ignition circuit: magneto on flywheel → ignition coil → spark plug wire → spark plug → spark across the gap → ignites the mixture.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Q6: What does the muffler do?</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Reduces exhaust noise and directs exhaust gases away from the operator</a:t>
            </a:r>
          </a:p>
          <a:p/>
          <a:p>
            <a:r>
              <a:t>The muffler bolts to the exhaust port on the cylinder. After the power stroke, burnt gases are pushed out through the exhaust valve and into the muffler. The baffles inside reduce noise. It also directs hot gases away from the operator. Fun fact: removing or modifying the muffler is part of the Stage 1 upgrade on our drift trike build.</a:t>
            </a:r>
          </a:p>
          <a:p/>
          <a:p>
            <a:r>
              <a:t>THINK ABOUT IT: Think about what comes OUT of the engine after combustion. Burnt gases exit through the exhaust port → muffler. It quiets the noise and points gases away safely.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Q7: The carburetor's job is to:</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Mix air and fuel in the correct ratio for combustion</a:t>
            </a:r>
          </a:p>
          <a:p/>
          <a:p>
            <a:r>
              <a:t>The carburetor uses the venturi effect — as air flows through a narrowing passage, it speeds up and creates low pressure, which draws fuel up through jets. The result is a fine mist of air and fuel in approximately a 14.7:1 ratio. Students adjusted the carburetor during Stage 1 mods. Too rich = black smoke, too lean = overheating.</a:t>
            </a:r>
          </a:p>
          <a:p/>
          <a:p>
            <a:r>
              <a:t>THINK ABOUT IT: The carburetor sits between the air filter and the intake valve. Its job is mixing — air and fuel in the right proportion (~14.7:1 by weight for gasoline).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Q8: What is located under the valve cover?</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Rocker arms and valve springs</a:t>
            </a:r>
          </a:p>
          <a:p/>
          <a:p>
            <a:r>
              <a:t>When students removed the valve cover during teardown, they saw the rocker arms, valve springs, and the tops of the valve stems. The rocker arms pivot to push the valves open, and the springs pull them closed. This is a key visual memory from the hands-on work.</a:t>
            </a:r>
          </a:p>
          <a:p/>
          <a:p>
            <a:r>
              <a:t>THINK ABOUT IT: Remember pulling the valve cover off during teardown? Right underneath were the rocker arms sitting on top of the valve stems, with springs wrapped around them.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Q9: What do the rocker arms do?</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Transfer camshaft motion to open and close the valves</a:t>
            </a:r>
          </a:p>
          <a:p/>
          <a:p>
            <a:r>
              <a:t>The rocker arms are lever mechanisms that transfer the camshaft's rotational motion into the linear push needed to open the valves. In the Predator 212 OHV design: cam lobe rotates → pushes tappet up → push rod goes up → rocker arm pivots → valve opens. When the cam lobe rotates away, the valve spring closes the valve.</a:t>
            </a:r>
          </a:p>
          <a:p/>
          <a:p>
            <a:r>
              <a:t>THINK ABOUT IT: Rocker arms are the mechanical link between the camshaft (below) and the valves (above). Cam lobe pushes up → pushrod → rocker arm pivots → valve opens.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Q10: The cylinder head is sealed to the cylinder by a:</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Head gasket</a:t>
            </a:r>
          </a:p>
          <a:p/>
          <a:p>
            <a:r>
              <a:t>The head gasket creates a seal between the cylinder head and the cylinder block. Without it, compression would leak out and the engine wouldn't run properly. During teardown, students saw this gasket when they removed the head. A blown head gasket is a common engine failure mode.</a:t>
            </a:r>
          </a:p>
          <a:p/>
          <a:p>
            <a:r>
              <a:t>THINK ABOUT IT: What sits BETWEEN the cylinder head and the cylinder block? A gasket — it seals the combustion chamber so no compression leaks out.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Q11: How many valves does the Predator 212 have?</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2 (one intake, one exhaust)</a:t>
            </a:r>
          </a:p>
          <a:p/>
          <a:p>
            <a:r>
              <a:t>The Predator 212 is a single-cylinder OHV engine with two valves: one intake and one exhaust. The intake valve opens during the intake stroke to let the air-fuel mixture in, and the exhaust valve opens during the exhaust stroke to let burnt gases out. Students saw both when they removed the head.</a:t>
            </a:r>
          </a:p>
          <a:p/>
          <a:p>
            <a:r>
              <a:t>THINK ABOUT IT: Single-cylinder OHV engine = one intake valve (lets fresh air-fuel in) and one exhaust valve (lets burnt gases out). Two valves total.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Q12: Carbon deposits inside the combustion chamber are caused by:</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Incomplete combustion of fuel and oil over time</a:t>
            </a:r>
          </a:p>
          <a:p/>
          <a:p>
            <a:r>
              <a:t>Carbon deposits are the black crusty buildup students saw inside the combustion chamber during teardown. They come from fuel and oil that didn't fully combust. Running rich, oil burning past worn rings, and extended use all contribute. Cleaning carbon deposits is part of regular maintenance.</a:t>
            </a:r>
          </a:p>
          <a:p/>
          <a:p>
            <a:r>
              <a:t>THINK ABOUT IT: Carbon is the residue from fuel and oil that didn't completely burn. Over time it builds up on the piston crown, valves, and chamber walls.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Q19: What does the camshaft do?</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Controls the opening and closing timing of the intake and exhaust valves</a:t>
            </a:r>
          </a:p>
          <a:p/>
          <a:p>
            <a:r>
              <a:t>The camshaft has egg-shaped lobes that push against tappets at precisely timed intervals. As the camshaft rotates, each lobe opens a valve through the pushrod/rocker arm chain. The cam profile determines lift and duration. Cam upgrades are a common mod, though we're skipping that on our drift trike.</a:t>
            </a:r>
          </a:p>
          <a:p/>
          <a:p>
            <a:r>
              <a:t>THINK ABOUT IT: The camshaft has lobes (bumps) that push against the valve train at precise times. Each lobe controls when a valve opens and for how long.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Q20: Timing marks on the crankshaft and camshaft gears ensure that:</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valves open and close at the correct time relative to piston position</a:t>
            </a:r>
          </a:p>
          <a:p/>
          <a:p>
            <a:r>
              <a:t>Timing marks are reference dots on the crankshaft gear and camshaft gear. When assembled, these marks must align so valve events happen at exactly the right piston positions. If timing is off, the piston could hit an open valve. Students should remember aligning these marks during reassembly.</a:t>
            </a:r>
          </a:p>
          <a:p/>
          <a:p>
            <a:r>
              <a:t>THINK ABOUT IT: The crankshaft and camshaft must be synchronized. If timing is off, a valve could be open when the piston comes up — catastrophic. The timing marks align them correctly.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Q28: Valve springs are responsible for:</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Closing the valves after the camshaft lobe pushes them open</a:t>
            </a:r>
          </a:p>
          <a:p/>
          <a:p>
            <a:r>
              <a:t>Valve springs provide the return force that closes valves. The camshaft opens them; the spring closes them. Spring tension is critical — too weak and the valve "floats" at high RPM. We're skipping stiffer valve springs on the drift trike since we won't hit high RPM.</a:t>
            </a:r>
          </a:p>
          <a:p/>
          <a:p>
            <a:r>
              <a:t>THINK ABOUT IT: The camshaft OPENS the valve (pushes it). But what CLOSES it? The spring! It pulls the valve back to its seat when the cam lobe rotates away.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Q13: The cylinder (jug) is the part of the engine where:</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piston moves up and down during operation</a:t>
            </a:r>
          </a:p>
          <a:p/>
          <a:p>
            <a:r>
              <a:t>The cylinder (mechanics call it the "jug") is the precision-bored tube where the piston reciprocates. The cylinder wall must be smooth and round for the piston rings to seal properly. Students saw the bore condition when they pulled the piston out during teardown.</a:t>
            </a:r>
          </a:p>
          <a:p/>
          <a:p>
            <a:r>
              <a:t>THINK ABOUT IT: The cylinder is the round bore — the tube where the piston slides up and down. It's the main working chamber of the engine.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Q14: What is the purpose of piston rings?</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Seal the gap between the piston and cylinder wall</a:t>
            </a:r>
          </a:p>
          <a:p/>
          <a:p>
            <a:r>
              <a:t>Piston rings ride in grooves on the piston and press outward against the cylinder wall. Compression rings seal combustion pressure above the piston, and the oil ring scrapes excess oil off the wall. Without good ring seal, you lose compression and burn oil. Students saw the ring grooves during teardown.</a:t>
            </a:r>
          </a:p>
          <a:p/>
          <a:p>
            <a:r>
              <a:t>THINK ABOUT IT: The piston is slightly smaller than the cylinder bore. The rings expand outward to seal that gap — keeping compression above and oil below.</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Q15: The wrist pin (piston pin) connects the:</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Piston to the connecting rod</a:t>
            </a:r>
          </a:p>
          <a:p/>
          <a:p>
            <a:r>
              <a:t>The wrist pin passes through the piston and the small end of the connecting rod, creating a pivot joint. This allows the connecting rod to swing as the piston moves straight up and down while the crankshaft rotates. Students pushed this pin out during teardown.</a:t>
            </a:r>
          </a:p>
          <a:p/>
          <a:p>
            <a:r>
              <a:t>THINK ABOUT IT: Think about the mechanical chain: piston → [wrist pin] → connecting rod → crankshaft. The wrist pin is the pivot point between piston and rod.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Q16: What does "bore condition" refer to when inspecting a cylinder?</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condition of the inner cylinder wall surface</a:t>
            </a:r>
          </a:p>
          <a:p/>
          <a:p>
            <a:r>
              <a:t>Bore condition describes the state of the cylinder wall surface. A healthy bore has fine crosshatch marks from honing that help retain oil. A damaged bore shows scoring, scratches, or glazing. During teardown, students looked inside the cylinder for these conditions. Bad bore = poor ring seal = lost compression.</a:t>
            </a:r>
          </a:p>
          <a:p/>
          <a:p>
            <a:r>
              <a:t>THINK ABOUT IT: "Bore" = the inside of the cylinder. "Condition" = is the surface smooth, scratched, scored, or worn? You're checking the cylinder wall quality.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Q17: The crankshaft converts:</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up-and-down motion of the piston into rotational motion</a:t>
            </a:r>
          </a:p>
          <a:p/>
          <a:p>
            <a:r>
              <a:t>The crankshaft converts the piston's reciprocating motion into rotational motion that can drive equipment. Think of a bicycle pedal: your legs go up and down, but the crank converts that into wheel rotation. The connecting rod links the piston to the crankshaft's offset journal.</a:t>
            </a:r>
          </a:p>
          <a:p/>
          <a:p>
            <a:r>
              <a:t>THINK ABOUT IT: Picture the piston going up and down. What shape converts linear motion to rotation? A crank — just like a bicycle pedal converts your up-down leg motion into wheel rotation.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Q18: The connecting rod links the:</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Piston to the crankshaft</a:t>
            </a:r>
          </a:p>
          <a:p/>
          <a:p>
            <a:r>
              <a:t>The connecting rod is the mechanical link between the piston and the crankshaft. The small end connects to the piston via the wrist pin, and the big end wraps around the crankshaft journal. We're installing a billet rod (ARC 6254) on the drift trike for strength.</a:t>
            </a:r>
          </a:p>
          <a:p/>
          <a:p>
            <a:r>
              <a:t>THINK ABOUT IT: Follow the power chain: combustion pushes piston down → connecting rod transfers that force → crankshaft rotates. The rod links piston to crank.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Q21: The crankcase houses which of the following components?</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Crankshaft, camshaft, and connecting rod</a:t>
            </a:r>
          </a:p>
          <a:p/>
          <a:p>
            <a:r>
              <a:t>The crankcase is the lower engine housing containing the crankshaft, camshaft (connected by timing gears), and the lower portion of the connecting rod. It also holds the engine oil in its sump. During teardown, splitting the crankcase revealed all these components.</a:t>
            </a:r>
          </a:p>
          <a:p/>
          <a:p>
            <a:r>
              <a:t>THINK ABOUT IT: The crankcase is the lower half of the engine block. What lives INSIDE the bottom? The rotating parts: crankshaft, camshaft, connecting rod.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Q22: What is the function of the governor on a small engine?</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Regulates engine speed under varying loads to prevent over-revving</a:t>
            </a:r>
          </a:p>
          <a:p/>
          <a:p>
            <a:r>
              <a:t>The governor uses centrifugal weights to sense engine speed and automatically adjust the throttle. On our drift trike, we're removing the governor for direct throttle control — but that means the rider must manage RPM manually.</a:t>
            </a:r>
          </a:p>
          <a:p/>
          <a:p>
            <a:r>
              <a:t>THINK ABOUT IT: The governor is a speed-limiting system. When the engine speeds up, the governor reduces throttle. When it bogs down, the governor opens the throttle. It maintains steady RPM.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Q23: The oil slinger in the Predator 212 lubricates the engine by:</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Spinning and splashing oil from the sump onto internal components</a:t>
            </a:r>
          </a:p>
          <a:p/>
          <a:p>
            <a:r>
              <a:t>The Predator 212 uses splash lubrication — a small paddle (oil slinger) attached to the camshaft gear dips into the oil sump as it rotates and flings oil onto internals. No oil pump or pressurized system. This is why keeping the correct oil level is critical.</a:t>
            </a:r>
          </a:p>
          <a:p/>
          <a:p>
            <a:r>
              <a:t>THINK ABOUT IT: The Predator 212 uses splash lubrication, not a pressurized oil pump. A paddle on the camshaft gear dips into the oil sump and flings oil everywhere.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Q24: The flywheel's primary functions include:</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Storing rotational energy to keep the crankshaft spinning between power strokes and generating a magnetic field for ignition</a:t>
            </a:r>
          </a:p>
          <a:p/>
          <a:p>
            <a:r>
              <a:t>The flywheel serves dual purposes: mass stores rotational energy through the non-power strokes, and permanent magnets generate the ignition pulse. We're installing a billet flywheel (ARC 6695) — lighter, stronger, better balance at higher RPM.</a:t>
            </a:r>
          </a:p>
          <a:p/>
          <a:p>
            <a:r>
              <a:t>THINK ABOUT IT: The flywheel is a heavy wheel on the crankshaft. Its mass stores kinetic energy AND it has magnets that spin past the ignition coil to generate spark.</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Q25: The PTO (Power Take-Off) side of the engine is where:</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output shaft exits the engine to drive equipment or a drivetrain</a:t>
            </a:r>
          </a:p>
          <a:p/>
          <a:p>
            <a:r>
              <a:t>PTO stands for Power Take-Off — the crankshaft extends out from this side to attach driven equipment. In our case, the centrifugal clutch and sprocket for the drift trike drivetrain. The PTO side is opposite the flywheel/starter side.</a:t>
            </a:r>
          </a:p>
          <a:p/>
          <a:p>
            <a:r>
              <a:t>THINK ABOUT IT: PTO = Power Take-Off. It's where power LEAVES the engine. The output shaft sticks out from this side to connect to whatever the engine drives.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Q26: What are the four strokes in a four-stroke engine cycle, in order?</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Intake, Compression, Power, Exhaust</a:t>
            </a:r>
          </a:p>
          <a:p/>
          <a:p>
            <a:r>
              <a:t>The four strokes: 1) INTAKE — piston down, intake valve open, mixture drawn in. 2) COMPRESSION — both valves closed, piston up, mixture squeezed. 3) POWER — spark fires, piston pushed down. 4) EXHAUST — piston up, exhaust valve open, burnt gases out. Mnemonic: Suck, Squeeze, Bang, Blow.</a:t>
            </a:r>
          </a:p>
          <a:p/>
          <a:p>
            <a:r>
              <a:t>THINK ABOUT IT: Suck, Squeeze, Bang, Blow — the mechanic's shorthand. Intake (suck), Compression (squeeze), Power (bang), Exhaust (blow).</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Q27: During the compression stroke, what is happening?</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Both valves are closed and the piston moves upward, compressing the air-fuel mixture</a:t>
            </a:r>
          </a:p>
          <a:p/>
          <a:p>
            <a:r>
              <a:t>During compression, both valves are closed creating a sealed chamber. The piston moves from BDC to TDC, compressing the mixture. This raises temperature and pressure for a powerful combustion event. The compression ratio on the Predator 212 is about 8.5:1.</a:t>
            </a:r>
          </a:p>
          <a:p/>
          <a:p>
            <a:r>
              <a:t>THINK ABOUT IT: Compression = squeeze. Both valves MUST be closed (sealed chamber), and the piston moves UP to compress the mixture.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Q29: The Predator 212 is classified as what type of engine?</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Single-cylinder, four-stroke, air-cooled, overhead valve (OHV)</a:t>
            </a:r>
          </a:p>
          <a:p/>
          <a:p>
            <a:r>
              <a:t>The Predator 212 classification: Single-cylinder, Four-stroke, Air-cooled, OHV. Knowing how to classify an engine by these characteristics is fundamental to small engine work.</a:t>
            </a:r>
          </a:p>
          <a:p/>
          <a:p>
            <a:r>
              <a:t>THINK ABOUT IT: Count the cylinders (1), count the strokes (4), how is it cooled (air — fins + shroud), where are the valves (overhead = in the head).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Q30: What does OHV (Overhead Valve) mean?</a:t>
            </a:r>
          </a:p>
          <a:p>
            <a:r>
              <a:t>Let students think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valves are located in the cylinder head above the piston, with the camshaft in the block driving them via pushrods or tappets</a:t>
            </a:r>
          </a:p>
          <a:p/>
          <a:p>
            <a:r>
              <a:t>OHV means valves in the cylinder head, camshaft in the block. Motion reaches valves through tappets, pushrods, and rocker arms. Different from OHC (cam also in head) or flathead (valves in block beside cylinder).</a:t>
            </a:r>
          </a:p>
          <a:p/>
          <a:p>
            <a:r>
              <a:t>THINK ABOUT IT: OHV = Overhead Valve. Valves are OVERHEAD (in the head), but the camshaft stays DOWN in the block. Cam pushes up through tappets and pushrods to reach the valves above.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mental models for any small engine question. Trace the path — air, fuel, force, motion. If you can follow the chain start to finish, you can figure out what each component does.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ctr">
              <a:defRPr sz="4400" b="1">
                <a:solidFill>
                  <a:srgbClr val="333333"/>
                </a:solidFill>
                <a:latin typeface="Helvetica Neue"/>
              </a:defRPr>
            </a:pPr>
            <a:r>
              <a:t>Anatomy of the Small Engine</a:t>
            </a:r>
          </a:p>
        </p:txBody>
      </p:sp>
      <p:sp>
        <p:nvSpPr>
          <p:cNvPr id="3" name="TextBox 2"/>
          <p:cNvSpPr txBox="1"/>
          <p:nvPr/>
        </p:nvSpPr>
        <p:spPr>
          <a:xfrm>
            <a:off x="914400" y="2560320"/>
            <a:ext cx="10058400" cy="731520"/>
          </a:xfrm>
          <a:prstGeom prst="rect">
            <a:avLst/>
          </a:prstGeom>
          <a:noFill/>
        </p:spPr>
        <p:txBody>
          <a:bodyPr wrap="square">
            <a:spAutoFit/>
          </a:bodyPr>
          <a:lstStyle/>
          <a:p>
            <a:pPr algn="ctr">
              <a:defRPr sz="2800" b="0">
                <a:solidFill>
                  <a:srgbClr val="999999"/>
                </a:solidFill>
                <a:latin typeface="Helvetica Neue"/>
              </a:defRPr>
            </a:pPr>
            <a:r>
              <a:t>Quiz Review — Study Guide</a:t>
            </a:r>
          </a:p>
        </p:txBody>
      </p:sp>
      <p:sp>
        <p:nvSpPr>
          <p:cNvPr id="4" name="TextBox 3"/>
          <p:cNvSpPr txBox="1"/>
          <p:nvPr/>
        </p:nvSpPr>
        <p:spPr>
          <a:xfrm>
            <a:off x="914400" y="3474720"/>
            <a:ext cx="10058400" cy="548640"/>
          </a:xfrm>
          <a:prstGeom prst="rect">
            <a:avLst/>
          </a:prstGeom>
          <a:noFill/>
        </p:spPr>
        <p:txBody>
          <a:bodyPr wrap="square">
            <a:spAutoFit/>
          </a:bodyPr>
          <a:lstStyle/>
          <a:p>
            <a:pPr algn="ctr">
              <a:defRPr sz="1800" b="0">
                <a:solidFill>
                  <a:srgbClr val="999999"/>
                </a:solidFill>
                <a:latin typeface="Helvetica Neue"/>
              </a:defRPr>
            </a:pPr>
            <a:r>
              <a:t>CVHS Engines &amp; Fabrication  |  Predator 212</a:t>
            </a:r>
          </a:p>
        </p:txBody>
      </p:sp>
      <p:pic>
        <p:nvPicPr>
          <p:cNvPr id="5" name="Picture 4" descr="engine_full.png"/>
          <p:cNvPicPr>
            <a:picLocks noChangeAspect="1"/>
          </p:cNvPicPr>
          <p:nvPr/>
        </p:nvPicPr>
        <p:blipFill>
          <a:blip r:embed="rId2"/>
          <a:stretch>
            <a:fillRect/>
          </a:stretch>
        </p:blipFill>
        <p:spPr>
          <a:xfrm>
            <a:off x="3657600" y="4114800"/>
            <a:ext cx="4572000" cy="24688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914400" y="2286000"/>
            <a:ext cx="10058400" cy="1097280"/>
          </a:xfrm>
          <a:prstGeom prst="rect">
            <a:avLst/>
          </a:prstGeom>
          <a:noFill/>
        </p:spPr>
        <p:txBody>
          <a:bodyPr wrap="square">
            <a:spAutoFit/>
          </a:bodyPr>
          <a:lstStyle/>
          <a:p>
            <a:pPr algn="ctr">
              <a:defRPr sz="4000" b="1">
                <a:solidFill>
                  <a:srgbClr val="333333"/>
                </a:solidFill>
                <a:latin typeface="Helvetica Neue"/>
              </a:defRPr>
            </a:pPr>
            <a:r>
              <a:t>External Components</a:t>
            </a:r>
          </a:p>
        </p:txBody>
      </p:sp>
      <p:sp>
        <p:nvSpPr>
          <p:cNvPr id="3" name="Rectangle 2"/>
          <p:cNvSpPr/>
          <p:nvPr/>
        </p:nvSpPr>
        <p:spPr>
          <a:xfrm>
            <a:off x="5029200" y="3200400"/>
            <a:ext cx="1828800" cy="3810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474720"/>
            <a:ext cx="9144000" cy="731520"/>
          </a:xfrm>
          <a:prstGeom prst="rect">
            <a:avLst/>
          </a:prstGeom>
          <a:noFill/>
        </p:spPr>
        <p:txBody>
          <a:bodyPr wrap="square">
            <a:spAutoFit/>
          </a:bodyPr>
          <a:lstStyle/>
          <a:p>
            <a:pPr algn="ctr">
              <a:defRPr sz="2000" b="0">
                <a:solidFill>
                  <a:srgbClr val="999999"/>
                </a:solidFill>
                <a:latin typeface="Helvetica Neue"/>
              </a:defRPr>
            </a:pPr>
            <a:r>
              <a:t>The parts you see on the outside of the engine</a:t>
            </a:r>
          </a:p>
        </p:txBody>
      </p:sp>
      <p:pic>
        <p:nvPicPr>
          <p:cNvPr id="5" name="Picture 4" descr="recoil_starter.png"/>
          <p:cNvPicPr>
            <a:picLocks noChangeAspect="1"/>
          </p:cNvPicPr>
          <p:nvPr/>
        </p:nvPicPr>
        <p:blipFill>
          <a:blip r:embed="rId2"/>
          <a:stretch>
            <a:fillRect/>
          </a:stretch>
        </p:blipFill>
        <p:spPr>
          <a:xfrm>
            <a:off x="2743200" y="4114800"/>
            <a:ext cx="6400800" cy="24688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1</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is the primary function of the recoil starter on a small engine?</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Regulates engine speed</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Cools the cylinder</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Cranks the engine to start it</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Lubricates the crankshaft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1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is the primary function of the recoil starter on a small engine?</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Regulates engine speed</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Cools the cylinder</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34C759"/>
                </a:solidFill>
                <a:latin typeface="Helvetica Neue"/>
              </a:rPr>
              <a:t>C.  </a:t>
            </a:r>
            <a:r>
              <a:rPr sz="1700" b="1">
                <a:solidFill>
                  <a:srgbClr val="007AFF"/>
                </a:solidFill>
                <a:latin typeface="Helvetica Neue"/>
              </a:rPr>
              <a:t>Cranks the engine to start it</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Lubricates the crankshaft</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What happens when you pull the starter cord? You're physically spinning the flywheel and crankshaft to get the first combustion cycle going.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2</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component covers the top of the engine and directs airflow for cooling?</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Valve cover</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Crankcase</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Shroud</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Muffler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2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component covers the top of the engine and directs airflow for cooling?</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Valve cover</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Crankcase</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34C759"/>
                </a:solidFill>
                <a:latin typeface="Helvetica Neue"/>
              </a:rPr>
              <a:t>C.  </a:t>
            </a:r>
            <a:r>
              <a:rPr sz="1700" b="1">
                <a:solidFill>
                  <a:srgbClr val="007AFF"/>
                </a:solidFill>
                <a:latin typeface="Helvetica Neue"/>
              </a:rPr>
              <a:t>Shroud</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Muffler</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Picture the engine from above. What's the big plastic/metal cover that sits over everything and has vents? It channels air from the flywheel fan across the cooling fins.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3</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does the fuel tank store?</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Hydraulic fluid</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Engine oil</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Gasoline</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Coolant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3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does the fuel tank store?</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Hydraulic fluid</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Engine oil</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34C759"/>
                </a:solidFill>
                <a:latin typeface="Helvetica Neue"/>
              </a:rPr>
              <a:t>C.  </a:t>
            </a:r>
            <a:r>
              <a:rPr sz="1700" b="1">
                <a:solidFill>
                  <a:srgbClr val="007AFF"/>
                </a:solidFill>
                <a:latin typeface="Helvetica Neue"/>
              </a:rPr>
              <a:t>Gasoline</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Coolant</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The Predator 212 is a gasoline engine with a spark plug. Oil goes in the crankcase. This engine is air-cooled (no coolant). Hydraulic fluid is for hydraulic systems, not engines.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4</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is the purpose of the air filter on a small engine?</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Cools the incoming air</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Prevents dirt and debris from entering the carburetor</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Filters the exhaust gases</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Cleans the engine oil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4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is the purpose of the air filter on a small engine?</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Cools the incoming air</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34C759"/>
                </a:solidFill>
                <a:latin typeface="Helvetica Neue"/>
              </a:rPr>
              <a:t>B.  </a:t>
            </a:r>
            <a:r>
              <a:rPr sz="1700" b="1">
                <a:solidFill>
                  <a:srgbClr val="007AFF"/>
                </a:solidFill>
                <a:latin typeface="Helvetica Neue"/>
              </a:rPr>
              <a:t>Prevents dirt and debris from entering the carburetor</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Filters the exhaust gases</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Cleans the engine oil</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Follow the air path: outside air → air filter → carburetor → intake valve → combustion chamber. The filter is the first line of defense on the intake side.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5</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spark plug is responsible for:</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Compressing the piston rings</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Pumping fuel into the cylinder</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Igniting the air-fuel mixture in the combustion chamber</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Opening the exhaust valve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5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spark plug is responsible for:</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Compressing the piston rings</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Pumping fuel into the cylinder</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34C759"/>
                </a:solidFill>
                <a:latin typeface="Helvetica Neue"/>
              </a:rPr>
              <a:t>C.  </a:t>
            </a:r>
            <a:r>
              <a:rPr sz="1700" b="1">
                <a:solidFill>
                  <a:srgbClr val="007AFF"/>
                </a:solidFill>
                <a:latin typeface="Helvetica Neue"/>
              </a:rPr>
              <a:t>Igniting the air-fuel mixture in the combustion chamber</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Opening the exhaust valve</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Follow the ignition circuit: magneto on flywheel → ignition coil → spark plug wire → spark plug → spark across the gap → ignites the mixture.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6</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does the muffler do?</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Stores excess fuel</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Reduces exhaust noise and directs exhaust gases away from the operator</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Increases engine horsepower</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Filters incoming air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6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does the muffler do?</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Stores excess fuel</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34C759"/>
                </a:solidFill>
                <a:latin typeface="Helvetica Neue"/>
              </a:rPr>
              <a:t>B.  </a:t>
            </a:r>
            <a:r>
              <a:rPr sz="1700" b="1">
                <a:solidFill>
                  <a:srgbClr val="007AFF"/>
                </a:solidFill>
                <a:latin typeface="Helvetica Neue"/>
              </a:rPr>
              <a:t>Reduces exhaust noise and directs exhaust gases away from the operator</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Increases engine horsepower</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Filters incoming air</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Think about what comes OUT of the engine after combustion. Burnt gases exit through the exhaust port → muffler. It quiets the noise and points gases away safely.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914400" y="2286000"/>
            <a:ext cx="10058400" cy="1097280"/>
          </a:xfrm>
          <a:prstGeom prst="rect">
            <a:avLst/>
          </a:prstGeom>
          <a:noFill/>
        </p:spPr>
        <p:txBody>
          <a:bodyPr wrap="square">
            <a:spAutoFit/>
          </a:bodyPr>
          <a:lstStyle/>
          <a:p>
            <a:pPr algn="ctr">
              <a:defRPr sz="4000" b="1">
                <a:solidFill>
                  <a:srgbClr val="333333"/>
                </a:solidFill>
                <a:latin typeface="Helvetica Neue"/>
              </a:defRPr>
            </a:pPr>
            <a:r>
              <a:t>Fuel &amp; Air System</a:t>
            </a:r>
          </a:p>
        </p:txBody>
      </p:sp>
      <p:sp>
        <p:nvSpPr>
          <p:cNvPr id="3" name="Rectangle 2"/>
          <p:cNvSpPr/>
          <p:nvPr/>
        </p:nvSpPr>
        <p:spPr>
          <a:xfrm>
            <a:off x="5029200" y="3200400"/>
            <a:ext cx="1828800" cy="3810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474720"/>
            <a:ext cx="9144000" cy="731520"/>
          </a:xfrm>
          <a:prstGeom prst="rect">
            <a:avLst/>
          </a:prstGeom>
          <a:noFill/>
        </p:spPr>
        <p:txBody>
          <a:bodyPr wrap="square">
            <a:spAutoFit/>
          </a:bodyPr>
          <a:lstStyle/>
          <a:p>
            <a:pPr algn="ctr">
              <a:defRPr sz="2000" b="0">
                <a:solidFill>
                  <a:srgbClr val="999999"/>
                </a:solidFill>
                <a:latin typeface="Helvetica Neue"/>
              </a:defRPr>
            </a:pPr>
            <a:r>
              <a:t>Getting the right mix into the combustion chamber</a:t>
            </a:r>
          </a:p>
        </p:txBody>
      </p:sp>
      <p:pic>
        <p:nvPicPr>
          <p:cNvPr id="5" name="Picture 4" descr="air_filter_carb.png"/>
          <p:cNvPicPr>
            <a:picLocks noChangeAspect="1"/>
          </p:cNvPicPr>
          <p:nvPr/>
        </p:nvPicPr>
        <p:blipFill>
          <a:blip r:embed="rId2"/>
          <a:stretch>
            <a:fillRect/>
          </a:stretch>
        </p:blipFill>
        <p:spPr>
          <a:xfrm>
            <a:off x="2743200" y="4114800"/>
            <a:ext cx="6400800" cy="246888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7</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carburetor's job is to:</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Compress the air-fuel mixture</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Mix air and fuel in the correct ratio for combustion</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Ignite the fuel</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Lubricate the piston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7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carburetor's job is to:</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Compress the air-fuel mixture</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34C759"/>
                </a:solidFill>
                <a:latin typeface="Helvetica Neue"/>
              </a:rPr>
              <a:t>B.  </a:t>
            </a:r>
            <a:r>
              <a:rPr sz="1700" b="1">
                <a:solidFill>
                  <a:srgbClr val="007AFF"/>
                </a:solidFill>
                <a:latin typeface="Helvetica Neue"/>
              </a:rPr>
              <a:t>Mix air and fuel in the correct ratio for combustion</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Ignite the fuel</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Lubricate the piston</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The carburetor sits between the air filter and the intake valve. Its job is mixing — air and fuel in the right proportion (~14.7:1 by weight for gasoline).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914400" y="2286000"/>
            <a:ext cx="10058400" cy="1097280"/>
          </a:xfrm>
          <a:prstGeom prst="rect">
            <a:avLst/>
          </a:prstGeom>
          <a:noFill/>
        </p:spPr>
        <p:txBody>
          <a:bodyPr wrap="square">
            <a:spAutoFit/>
          </a:bodyPr>
          <a:lstStyle/>
          <a:p>
            <a:pPr algn="ctr">
              <a:defRPr sz="4000" b="1">
                <a:solidFill>
                  <a:srgbClr val="333333"/>
                </a:solidFill>
                <a:latin typeface="Helvetica Neue"/>
              </a:defRPr>
            </a:pPr>
            <a:r>
              <a:t>Valvetrain</a:t>
            </a:r>
          </a:p>
        </p:txBody>
      </p:sp>
      <p:sp>
        <p:nvSpPr>
          <p:cNvPr id="3" name="Rectangle 2"/>
          <p:cNvSpPr/>
          <p:nvPr/>
        </p:nvSpPr>
        <p:spPr>
          <a:xfrm>
            <a:off x="5029200" y="3200400"/>
            <a:ext cx="1828800" cy="3810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474720"/>
            <a:ext cx="9144000" cy="731520"/>
          </a:xfrm>
          <a:prstGeom prst="rect">
            <a:avLst/>
          </a:prstGeom>
          <a:noFill/>
        </p:spPr>
        <p:txBody>
          <a:bodyPr wrap="square">
            <a:spAutoFit/>
          </a:bodyPr>
          <a:lstStyle/>
          <a:p>
            <a:pPr algn="ctr">
              <a:defRPr sz="2000" b="0">
                <a:solidFill>
                  <a:srgbClr val="999999"/>
                </a:solidFill>
                <a:latin typeface="Helvetica Neue"/>
              </a:defRPr>
            </a:pPr>
            <a:r>
              <a:t>Controlling what goes in and what comes out</a:t>
            </a:r>
          </a:p>
        </p:txBody>
      </p:sp>
      <p:pic>
        <p:nvPicPr>
          <p:cNvPr id="5" name="Picture 4" descr="valvetrain.png"/>
          <p:cNvPicPr>
            <a:picLocks noChangeAspect="1"/>
          </p:cNvPicPr>
          <p:nvPr/>
        </p:nvPicPr>
        <p:blipFill>
          <a:blip r:embed="rId2"/>
          <a:stretch>
            <a:fillRect/>
          </a:stretch>
        </p:blipFill>
        <p:spPr>
          <a:xfrm>
            <a:off x="2743200" y="4114800"/>
            <a:ext cx="6400800" cy="24688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8</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is located under the valve cover?</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Rocker arms and valve springs</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Oil slinger and governor</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Piston and connecting rod</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Crankshaft and camshaft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8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is located under the valve cover?</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34C759"/>
                </a:solidFill>
                <a:latin typeface="Helvetica Neue"/>
              </a:rPr>
              <a:t>A.  </a:t>
            </a:r>
            <a:r>
              <a:rPr sz="1700" b="1">
                <a:solidFill>
                  <a:srgbClr val="007AFF"/>
                </a:solidFill>
                <a:latin typeface="Helvetica Neue"/>
              </a:rPr>
              <a:t>Rocker arms and valve springs</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Oil slinger and governor</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Piston and connecting rod</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Crankshaft and camshaft</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Remember pulling the valve cover off during teardown? Right underneath were the rocker arms sitting on top of the valve stems, with springs wrapped around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9</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do the rocker arms do?</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Transfer camshaft motion to open and close the valves</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Regulate engine speed</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Connect the piston to the crankshaft</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Seal the combustion chamber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9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do the rocker arms do?</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34C759"/>
                </a:solidFill>
                <a:latin typeface="Helvetica Neue"/>
              </a:rPr>
              <a:t>A.  </a:t>
            </a:r>
            <a:r>
              <a:rPr sz="1700" b="1">
                <a:solidFill>
                  <a:srgbClr val="007AFF"/>
                </a:solidFill>
                <a:latin typeface="Helvetica Neue"/>
              </a:rPr>
              <a:t>Transfer camshaft motion to open and close the valves</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Regulate engine speed</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Connect the piston to the crankshaft</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Seal the combustion chamber</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Rocker arms are the mechanical link between the camshaft (below) and the valves (above). Cam lobe pushes up → pushrod → rocker arm pivots → valve opens.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10</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cylinder head is sealed to the cylinder by a:</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Crankcase cover</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Piston ring</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Valve spring</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Head gasket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10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cylinder head is sealed to the cylinder by a:</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Crankcase cover</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Piston ring</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Valve spring</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34C759"/>
                </a:solidFill>
                <a:latin typeface="Helvetica Neue"/>
              </a:rPr>
              <a:t>D.  </a:t>
            </a:r>
            <a:r>
              <a:rPr sz="1700" b="1">
                <a:solidFill>
                  <a:srgbClr val="007AFF"/>
                </a:solidFill>
                <a:latin typeface="Helvetica Neue"/>
              </a:rPr>
              <a:t>Head gasket</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What sits BETWEEN the cylinder head and the cylinder block? A gasket — it seals the combustion chamber so no compression leaks out.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11</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How many valves does the Predator 212 have?</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4 (two intake, two exhaust)</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1 (intake only)</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2 (one intake, one exhaust)</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3 (two intake, one exhaust)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11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How many valves does the Predator 212 have?</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4 (two intake, two exhaust)</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1 (intake only)</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34C759"/>
                </a:solidFill>
                <a:latin typeface="Helvetica Neue"/>
              </a:rPr>
              <a:t>C.  </a:t>
            </a:r>
            <a:r>
              <a:rPr sz="1700" b="1">
                <a:solidFill>
                  <a:srgbClr val="007AFF"/>
                </a:solidFill>
                <a:latin typeface="Helvetica Neue"/>
              </a:rPr>
              <a:t>2 (one intake, one exhaust)</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3 (two intake, one exhaust)</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Single-cylinder OHV engine = one intake valve (lets fresh air-fuel in) and one exhaust valve (lets burnt gases out). Two valves total.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12</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Carbon deposits inside the combustion chamber are caused by:</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Water in the fuel tank</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Incomplete combustion of fuel and oil over time</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A loose spark plug</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Too much airflow through the carburetor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12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Carbon deposits inside the combustion chamber are caused by:</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Water in the fuel tank</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34C759"/>
                </a:solidFill>
                <a:latin typeface="Helvetica Neue"/>
              </a:rPr>
              <a:t>B.  </a:t>
            </a:r>
            <a:r>
              <a:rPr sz="1700" b="1">
                <a:solidFill>
                  <a:srgbClr val="007AFF"/>
                </a:solidFill>
                <a:latin typeface="Helvetica Neue"/>
              </a:rPr>
              <a:t>Incomplete combustion of fuel and oil over time</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A loose spark plug</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Too much airflow through the carburetor</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Carbon is the residue from fuel and oil that didn't completely burn. Over time it builds up on the piston crown, valves, and chamber walls.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19</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does the camshaft do?</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Spins the flywheel</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Pumps oil through the engine</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Controls the opening and closing timing of the intake and exhaust valves</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Ignites the air-fuel mixture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19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does the camshaft do?</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Spins the flywheel</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Pumps oil through the engine</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34C759"/>
                </a:solidFill>
                <a:latin typeface="Helvetica Neue"/>
              </a:rPr>
              <a:t>C.  </a:t>
            </a:r>
            <a:r>
              <a:rPr sz="1700" b="1">
                <a:solidFill>
                  <a:srgbClr val="007AFF"/>
                </a:solidFill>
                <a:latin typeface="Helvetica Neue"/>
              </a:rPr>
              <a:t>Controls the opening and closing timing of the intake and exhaust valves</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Ignites the air-fuel mixture</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The camshaft has lobes (bumps) that push against the valve train at precise times. Each lobe controls when a valve opens and for how long.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20</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Timing marks on the crankshaft and camshaft gears ensure that:</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The engine runs at the correct RPM</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The valves open and close at the correct time relative to piston position</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The spark plug fires at maximum compression</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The oil pump delivers the right pressure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20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Timing marks on the crankshaft and camshaft gears ensure that:</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The engine runs at the correct RPM</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34C759"/>
                </a:solidFill>
                <a:latin typeface="Helvetica Neue"/>
              </a:rPr>
              <a:t>B.  </a:t>
            </a:r>
            <a:r>
              <a:rPr sz="1700" b="1">
                <a:solidFill>
                  <a:srgbClr val="007AFF"/>
                </a:solidFill>
                <a:latin typeface="Helvetica Neue"/>
              </a:rPr>
              <a:t>The valves open and close at the correct time relative to piston position</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The spark plug fires at maximum compression</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The oil pump delivers the right pressure</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The crankshaft and camshaft must be synchronized. If timing is off, a valve could be open when the piston comes up — catastrophic. The timing marks align them correctly.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28</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Valve springs are responsible for:</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Opening the valves during the intake stroke</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Sealing the cylinder head to the block</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Closing the valves after the camshaft lobe pushes them open</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Connecting the rocker arms to the push rods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28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Valve springs are responsible for:</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Opening the valves during the intake stroke</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Sealing the cylinder head to the block</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34C759"/>
                </a:solidFill>
                <a:latin typeface="Helvetica Neue"/>
              </a:rPr>
              <a:t>C.  </a:t>
            </a:r>
            <a:r>
              <a:rPr sz="1700" b="1">
                <a:solidFill>
                  <a:srgbClr val="007AFF"/>
                </a:solidFill>
                <a:latin typeface="Helvetica Neue"/>
              </a:rPr>
              <a:t>Closing the valves after the camshaft lobe pushes them open</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Connecting the rocker arms to the push rods</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The camshaft OPENS the valve (pushes it). But what CLOSES it? The spring! It pulls the valve back to its seat when the cam lobe rotates away.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914400" y="2286000"/>
            <a:ext cx="10058400" cy="1097280"/>
          </a:xfrm>
          <a:prstGeom prst="rect">
            <a:avLst/>
          </a:prstGeom>
          <a:noFill/>
        </p:spPr>
        <p:txBody>
          <a:bodyPr wrap="square">
            <a:spAutoFit/>
          </a:bodyPr>
          <a:lstStyle/>
          <a:p>
            <a:pPr algn="ctr">
              <a:defRPr sz="4000" b="1">
                <a:solidFill>
                  <a:srgbClr val="333333"/>
                </a:solidFill>
                <a:latin typeface="Helvetica Neue"/>
              </a:defRPr>
            </a:pPr>
            <a:r>
              <a:t>Cylinder &amp; Piston Assembly</a:t>
            </a:r>
          </a:p>
        </p:txBody>
      </p:sp>
      <p:sp>
        <p:nvSpPr>
          <p:cNvPr id="3" name="Rectangle 2"/>
          <p:cNvSpPr/>
          <p:nvPr/>
        </p:nvSpPr>
        <p:spPr>
          <a:xfrm>
            <a:off x="5029200" y="3200400"/>
            <a:ext cx="1828800" cy="3810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474720"/>
            <a:ext cx="9144000" cy="731520"/>
          </a:xfrm>
          <a:prstGeom prst="rect">
            <a:avLst/>
          </a:prstGeom>
          <a:noFill/>
        </p:spPr>
        <p:txBody>
          <a:bodyPr wrap="square">
            <a:spAutoFit/>
          </a:bodyPr>
          <a:lstStyle/>
          <a:p>
            <a:pPr algn="ctr">
              <a:defRPr sz="2000" b="0">
                <a:solidFill>
                  <a:srgbClr val="999999"/>
                </a:solidFill>
                <a:latin typeface="Helvetica Neue"/>
              </a:defRPr>
            </a:pPr>
            <a:r>
              <a:t>Where the magic happens — converting combustion to motion</a:t>
            </a:r>
          </a:p>
        </p:txBody>
      </p:sp>
      <p:pic>
        <p:nvPicPr>
          <p:cNvPr id="5" name="Picture 4" descr="cylinder_piston.png"/>
          <p:cNvPicPr>
            <a:picLocks noChangeAspect="1"/>
          </p:cNvPicPr>
          <p:nvPr/>
        </p:nvPicPr>
        <p:blipFill>
          <a:blip r:embed="rId2"/>
          <a:stretch>
            <a:fillRect/>
          </a:stretch>
        </p:blipFill>
        <p:spPr>
          <a:xfrm>
            <a:off x="2743200" y="4114800"/>
            <a:ext cx="6400800" cy="246888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13</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cylinder (jug) is the part of the engine where:</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The camshaft is housed</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The recoil starter attaches</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The piston moves up and down during operation</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Fuel is stored before combustion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13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cylinder (jug) is the part of the engine where:</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The camshaft is housed</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The recoil starter attaches</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34C759"/>
                </a:solidFill>
                <a:latin typeface="Helvetica Neue"/>
              </a:rPr>
              <a:t>C.  </a:t>
            </a:r>
            <a:r>
              <a:rPr sz="1700" b="1">
                <a:solidFill>
                  <a:srgbClr val="007AFF"/>
                </a:solidFill>
                <a:latin typeface="Helvetica Neue"/>
              </a:rPr>
              <a:t>The piston moves up and down during operation</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Fuel is stored before combustion</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The cylinder is the round bore — the tube where the piston slides up and down. It's the main working chamber of the engine.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14</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is the purpose of piston rings?</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Open and close the valves</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Connect the piston to the crankshaft</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Hold the wrist pin in place</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Seal the gap between the piston and cylinder wall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14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is the purpose of piston rings?</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Open and close the valves</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Connect the piston to the crankshaft</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Hold the wrist pin in place</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34C759"/>
                </a:solidFill>
                <a:latin typeface="Helvetica Neue"/>
              </a:rPr>
              <a:t>D.  </a:t>
            </a:r>
            <a:r>
              <a:rPr sz="1700" b="1">
                <a:solidFill>
                  <a:srgbClr val="007AFF"/>
                </a:solidFill>
                <a:latin typeface="Helvetica Neue"/>
              </a:rPr>
              <a:t>Seal the gap between the piston and cylinder wall</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The piston is slightly smaller than the cylinder bore. The rings expand outward to seal that gap — keeping compression above and oil below.</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15</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wrist pin (piston pin) connects the:</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Connecting rod to the crankshaft</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Piston to the connecting rod</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Camshaft to the crankshaft</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Valve to the rocker arm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15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wrist pin (piston pin) connects the:</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Connecting rod to the crankshaft</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34C759"/>
                </a:solidFill>
                <a:latin typeface="Helvetica Neue"/>
              </a:rPr>
              <a:t>B.  </a:t>
            </a:r>
            <a:r>
              <a:rPr sz="1700" b="1">
                <a:solidFill>
                  <a:srgbClr val="007AFF"/>
                </a:solidFill>
                <a:latin typeface="Helvetica Neue"/>
              </a:rPr>
              <a:t>Piston to the connecting rod</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Camshaft to the crankshaft</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Valve to the rocker arm</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Think about the mechanical chain: piston → [wrist pin] → connecting rod → crankshaft. The wrist pin is the pivot point between piston and rod.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16</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does "bore condition" refer to when inspecting a cylinder?</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The depth of the combustion chamber</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The condition of the inner cylinder wall surface</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The size of the exhaust port</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The number of piston rings installed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16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does "bore condition" refer to when inspecting a cylinder?</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The depth of the combustion chamber</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34C759"/>
                </a:solidFill>
                <a:latin typeface="Helvetica Neue"/>
              </a:rPr>
              <a:t>B.  </a:t>
            </a:r>
            <a:r>
              <a:rPr sz="1700" b="1">
                <a:solidFill>
                  <a:srgbClr val="007AFF"/>
                </a:solidFill>
                <a:latin typeface="Helvetica Neue"/>
              </a:rPr>
              <a:t>The condition of the inner cylinder wall surface</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The size of the exhaust port</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The number of piston rings installed</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"Bore" = the inside of the cylinder. "Condition" = is the surface smooth, scratched, scored, or worn? You're checking the cylinder wall quality.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17</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crankshaft converts:</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Air pressure into vacuum</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Rotational motion into up-and-down motion</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Fuel into electricity</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The up-and-down motion of the piston into rotational motion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17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crankshaft converts:</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Air pressure into vacuum</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Rotational motion into up-and-down motion</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Fuel into electricity</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34C759"/>
                </a:solidFill>
                <a:latin typeface="Helvetica Neue"/>
              </a:rPr>
              <a:t>D.  </a:t>
            </a:r>
            <a:r>
              <a:rPr sz="1700" b="1">
                <a:solidFill>
                  <a:srgbClr val="007AFF"/>
                </a:solidFill>
                <a:latin typeface="Helvetica Neue"/>
              </a:rPr>
              <a:t>The up-and-down motion of the piston into rotational motion</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Picture the piston going up and down. What shape converts linear motion to rotation? A crank — just like a bicycle pedal converts your up-down leg motion into wheel rotation.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18</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connecting rod links the:</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Crankshaft to the camshaft</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Flywheel to the starter</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Valve to the rocker arm</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Piston to the crankshaft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18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connecting rod links the:</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Crankshaft to the camshaft</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Flywheel to the starter</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Valve to the rocker arm</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34C759"/>
                </a:solidFill>
                <a:latin typeface="Helvetica Neue"/>
              </a:rPr>
              <a:t>D.  </a:t>
            </a:r>
            <a:r>
              <a:rPr sz="1700" b="1">
                <a:solidFill>
                  <a:srgbClr val="007AFF"/>
                </a:solidFill>
                <a:latin typeface="Helvetica Neue"/>
              </a:rPr>
              <a:t>Piston to the crankshaft</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Follow the power chain: combustion pushes piston down → connecting rod transfers that force → crankshaft rotates. The rod links piston to crank.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914400" y="2286000"/>
            <a:ext cx="10058400" cy="1097280"/>
          </a:xfrm>
          <a:prstGeom prst="rect">
            <a:avLst/>
          </a:prstGeom>
          <a:noFill/>
        </p:spPr>
        <p:txBody>
          <a:bodyPr wrap="square">
            <a:spAutoFit/>
          </a:bodyPr>
          <a:lstStyle/>
          <a:p>
            <a:pPr algn="ctr">
              <a:defRPr sz="4000" b="1">
                <a:solidFill>
                  <a:srgbClr val="333333"/>
                </a:solidFill>
                <a:latin typeface="Helvetica Neue"/>
              </a:defRPr>
            </a:pPr>
            <a:r>
              <a:t>Engine Systems</a:t>
            </a:r>
          </a:p>
        </p:txBody>
      </p:sp>
      <p:sp>
        <p:nvSpPr>
          <p:cNvPr id="3" name="Rectangle 2"/>
          <p:cNvSpPr/>
          <p:nvPr/>
        </p:nvSpPr>
        <p:spPr>
          <a:xfrm>
            <a:off x="5029200" y="3200400"/>
            <a:ext cx="1828800" cy="3810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474720"/>
            <a:ext cx="9144000" cy="731520"/>
          </a:xfrm>
          <a:prstGeom prst="rect">
            <a:avLst/>
          </a:prstGeom>
          <a:noFill/>
        </p:spPr>
        <p:txBody>
          <a:bodyPr wrap="square">
            <a:spAutoFit/>
          </a:bodyPr>
          <a:lstStyle/>
          <a:p>
            <a:pPr algn="ctr">
              <a:defRPr sz="2000" b="0">
                <a:solidFill>
                  <a:srgbClr val="999999"/>
                </a:solidFill>
                <a:latin typeface="Helvetica Neue"/>
              </a:defRPr>
            </a:pPr>
            <a:r>
              <a:t>Lubrication, speed control, energy storage, and power output</a:t>
            </a:r>
          </a:p>
        </p:txBody>
      </p:sp>
      <p:pic>
        <p:nvPicPr>
          <p:cNvPr id="5" name="Picture 4" descr="flywheel.png"/>
          <p:cNvPicPr>
            <a:picLocks noChangeAspect="1"/>
          </p:cNvPicPr>
          <p:nvPr/>
        </p:nvPicPr>
        <p:blipFill>
          <a:blip r:embed="rId2"/>
          <a:stretch>
            <a:fillRect/>
          </a:stretch>
        </p:blipFill>
        <p:spPr>
          <a:xfrm>
            <a:off x="2743200" y="4114800"/>
            <a:ext cx="6400800" cy="246888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21</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crankcase houses which of the following components?</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Piston, cylinder, and spark plug</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Carburetor, air filter, and fuel tank</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Valve cover, rocker arms, and valves</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Crankshaft, camshaft, and connecting rod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21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crankcase houses which of the following components?</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Piston, cylinder, and spark plug</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Carburetor, air filter, and fuel tank</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Valve cover, rocker arms, and valves</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34C759"/>
                </a:solidFill>
                <a:latin typeface="Helvetica Neue"/>
              </a:rPr>
              <a:t>D.  </a:t>
            </a:r>
            <a:r>
              <a:rPr sz="1700" b="1">
                <a:solidFill>
                  <a:srgbClr val="007AFF"/>
                </a:solidFill>
                <a:latin typeface="Helvetica Neue"/>
              </a:rPr>
              <a:t>Crankshaft, camshaft, and connecting rod</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The crankcase is the lower half of the engine block. What lives INSIDE the bottom? The rotating parts: crankshaft, camshaft, connecting rod.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22</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is the function of the governor on a small engine?</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Controls the ignition timing</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Engages the recoil starter</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Pumps oil to the bearings</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Regulates engine speed under varying loads to prevent over-revving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22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is the function of the governor on a small engine?</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Controls the ignition timing</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Engages the recoil starter</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Pumps oil to the bearings</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34C759"/>
                </a:solidFill>
                <a:latin typeface="Helvetica Neue"/>
              </a:rPr>
              <a:t>D.  </a:t>
            </a:r>
            <a:r>
              <a:rPr sz="1700" b="1">
                <a:solidFill>
                  <a:srgbClr val="007AFF"/>
                </a:solidFill>
                <a:latin typeface="Helvetica Neue"/>
              </a:rPr>
              <a:t>Regulates engine speed under varying loads to prevent over-revving</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The governor is a speed-limiting system. When the engine speeds up, the governor reduces throttle. When it bogs down, the governor opens the throttle. It maintains steady RPM.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23</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oil slinger in the Predator 212 lubricates the engine by:</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Spinning and splashing oil from the sump onto internal components</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Pumping oil under high pressure through galleries</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Mixing oil directly into the fuel</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Dripping oil from the valve cover onto the piston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23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oil slinger in the Predator 212 lubricates the engine by:</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34C759"/>
                </a:solidFill>
                <a:latin typeface="Helvetica Neue"/>
              </a:rPr>
              <a:t>A.  </a:t>
            </a:r>
            <a:r>
              <a:rPr sz="1700" b="1">
                <a:solidFill>
                  <a:srgbClr val="007AFF"/>
                </a:solidFill>
                <a:latin typeface="Helvetica Neue"/>
              </a:rPr>
              <a:t>Spinning and splashing oil from the sump onto internal components</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Pumping oil under high pressure through galleries</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Mixing oil directly into the fuel</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Dripping oil from the valve cover onto the piston</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The Predator 212 uses splash lubrication, not a pressurized oil pump. A paddle on the camshaft gear dips into the oil sump and flings oil everywhere.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24</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flywheel's primary functions include:</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Cooling the engine and filtering air</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Storing rotational energy to keep the crankshaft spinning between power strokes and generating a magnetic field for ignition</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Compressing the fuel mixture</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Connecting the carburetor to the intake valve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24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flywheel's primary functions include:</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Cooling the engine and filtering air</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34C759"/>
                </a:solidFill>
                <a:latin typeface="Helvetica Neue"/>
              </a:rPr>
              <a:t>B.  </a:t>
            </a:r>
            <a:r>
              <a:rPr sz="1700" b="1">
                <a:solidFill>
                  <a:srgbClr val="007AFF"/>
                </a:solidFill>
                <a:latin typeface="Helvetica Neue"/>
              </a:rPr>
              <a:t>Storing rotational energy to keep the crankshaft spinning between power strokes and generating a magnetic field for ignition</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Compressing the fuel mixture</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Connecting the carburetor to the intake valve</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The flywheel is a heavy wheel on the crankshaft. Its mass stores kinetic energy AND it has magnets that spin past the ignition coil to generate spark.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25</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PTO (Power Take-Off) side of the engine is where:</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The muffler attaches</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The air filter is located</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The recoil starter is mounted</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The output shaft exits the engine to drive equipment or a drivetrain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25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PTO (Power Take-Off) side of the engine is where:</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The muffler attaches</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The air filter is located</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The recoil starter is mounted</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34C759"/>
                </a:solidFill>
                <a:latin typeface="Helvetica Neue"/>
              </a:rPr>
              <a:t>D.  </a:t>
            </a:r>
            <a:r>
              <a:rPr sz="1700" b="1">
                <a:solidFill>
                  <a:srgbClr val="007AFF"/>
                </a:solidFill>
                <a:latin typeface="Helvetica Neue"/>
              </a:rPr>
              <a:t>The output shaft exits the engine to drive equipment or a drivetrain</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PTO = Power Take-Off. It's where power LEAVES the engine. The output shaft sticks out from this side to connect to whatever the engine drives.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914400" y="2286000"/>
            <a:ext cx="10058400" cy="1097280"/>
          </a:xfrm>
          <a:prstGeom prst="rect">
            <a:avLst/>
          </a:prstGeom>
          <a:noFill/>
        </p:spPr>
        <p:txBody>
          <a:bodyPr wrap="square">
            <a:spAutoFit/>
          </a:bodyPr>
          <a:lstStyle/>
          <a:p>
            <a:pPr algn="ctr">
              <a:defRPr sz="4000" b="1">
                <a:solidFill>
                  <a:srgbClr val="333333"/>
                </a:solidFill>
                <a:latin typeface="Helvetica Neue"/>
              </a:defRPr>
            </a:pPr>
            <a:r>
              <a:t>Four-Stroke Cycle &amp; Classification</a:t>
            </a:r>
          </a:p>
        </p:txBody>
      </p:sp>
      <p:sp>
        <p:nvSpPr>
          <p:cNvPr id="3" name="Rectangle 2"/>
          <p:cNvSpPr/>
          <p:nvPr/>
        </p:nvSpPr>
        <p:spPr>
          <a:xfrm>
            <a:off x="5029200" y="3200400"/>
            <a:ext cx="1828800" cy="38100"/>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3474720"/>
            <a:ext cx="9144000" cy="731520"/>
          </a:xfrm>
          <a:prstGeom prst="rect">
            <a:avLst/>
          </a:prstGeom>
          <a:noFill/>
        </p:spPr>
        <p:txBody>
          <a:bodyPr wrap="square">
            <a:spAutoFit/>
          </a:bodyPr>
          <a:lstStyle/>
          <a:p>
            <a:pPr algn="ctr">
              <a:defRPr sz="2000" b="0">
                <a:solidFill>
                  <a:srgbClr val="999999"/>
                </a:solidFill>
                <a:latin typeface="Helvetica Neue"/>
              </a:defRPr>
            </a:pPr>
            <a:r>
              <a:t>How it all comes together</a:t>
            </a:r>
          </a:p>
        </p:txBody>
      </p:sp>
      <p:pic>
        <p:nvPicPr>
          <p:cNvPr id="5" name="Picture 4" descr="four_stroke_cycle.png"/>
          <p:cNvPicPr>
            <a:picLocks noChangeAspect="1"/>
          </p:cNvPicPr>
          <p:nvPr/>
        </p:nvPicPr>
        <p:blipFill>
          <a:blip r:embed="rId2"/>
          <a:stretch>
            <a:fillRect/>
          </a:stretch>
        </p:blipFill>
        <p:spPr>
          <a:xfrm>
            <a:off x="2743200" y="4114800"/>
            <a:ext cx="6400800" cy="246888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26</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are the four strokes in a four-stroke engine cycle, in order?</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Intake, Compression, Power, Exhaust</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Intake, Power, Compression, Exhaust</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Compression, Intake, Exhaust, Power</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Power, Exhaust, Intake, Compression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26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are the four strokes in a four-stroke engine cycle, in order?</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34C759"/>
                </a:solidFill>
                <a:latin typeface="Helvetica Neue"/>
              </a:rPr>
              <a:t>A.  </a:t>
            </a:r>
            <a:r>
              <a:rPr sz="1700" b="1">
                <a:solidFill>
                  <a:srgbClr val="007AFF"/>
                </a:solidFill>
                <a:latin typeface="Helvetica Neue"/>
              </a:rPr>
              <a:t>Intake, Compression, Power, Exhaust</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Intake, Power, Compression, Exhaust</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Compression, Intake, Exhaust, Power</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Power, Exhaust, Intake, Compression</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Suck, Squeeze, Bang, Blow — the mechanic's shorthand. Intake (suck), Compression (squeeze), Power (bang), Exhaust (blow).</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27</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During the compression stroke, what is happening?</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Both valves are closed and the piston moves upward, compressing the air-fuel mixture</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The spark plug fires and the piston moves downward</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The intake valve is open and fuel is entering the cylinder</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The exhaust valve is open and gases are leaving the cylinder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27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During the compression stroke, what is happening?</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34C759"/>
                </a:solidFill>
                <a:latin typeface="Helvetica Neue"/>
              </a:rPr>
              <a:t>A.  </a:t>
            </a:r>
            <a:r>
              <a:rPr sz="1700" b="1">
                <a:solidFill>
                  <a:srgbClr val="007AFF"/>
                </a:solidFill>
                <a:latin typeface="Helvetica Neue"/>
              </a:rPr>
              <a:t>Both valves are closed and the piston moves upward, compressing the air-fuel mixture</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The spark plug fires and the piston moves downward</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The intake valve is open and fuel is entering the cylinder</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The exhaust valve is open and gases are leaving the cylinder</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Compression = squeeze. Both valves MUST be closed (sealed chamber), and the piston moves UP to compress the mixture.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29</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The Predator 212 is classified as what type of engine?</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Two-cylinder, two-stroke, liquid-cooled</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Single-cylinder, four-stroke, air-cooled, overhead valve (OHV)</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Single-cylinder, two-stroke, air-cooled</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V-twin, four-stroke, liquid-cooled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29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The Predator 212 is classified as what type of engine?</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Two-cylinder, two-stroke, liquid-cooled</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34C759"/>
                </a:solidFill>
                <a:latin typeface="Helvetica Neue"/>
              </a:rPr>
              <a:t>B.  </a:t>
            </a:r>
            <a:r>
              <a:rPr sz="1700" b="1">
                <a:solidFill>
                  <a:srgbClr val="007AFF"/>
                </a:solidFill>
                <a:latin typeface="Helvetica Neue"/>
              </a:rPr>
              <a:t>Single-cylinder, four-stroke, air-cooled, overhead valve (OHV)</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Single-cylinder, two-stroke, air-cooled</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BBBBBB"/>
                </a:solidFill>
                <a:latin typeface="Helvetica Neue"/>
              </a:rPr>
              <a:t>D.  </a:t>
            </a:r>
            <a:r>
              <a:rPr sz="1700" b="0">
                <a:solidFill>
                  <a:srgbClr val="BBBBBB"/>
                </a:solidFill>
                <a:latin typeface="Helvetica Neue"/>
              </a:rPr>
              <a:t>V-twin, four-stroke, liquid-cooled</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Count the cylinders (1), count the strokes (4), how is it cooled (air — fins + shroud), where are the valves (overhead = in the head).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1371600" cy="457200"/>
          </a:xfrm>
          <a:prstGeom prst="rect">
            <a:avLst/>
          </a:prstGeom>
          <a:noFill/>
        </p:spPr>
        <p:txBody>
          <a:bodyPr wrap="square">
            <a:spAutoFit/>
          </a:bodyPr>
          <a:lstStyle/>
          <a:p>
            <a:pPr algn="l">
              <a:defRPr sz="1400" b="1">
                <a:solidFill>
                  <a:srgbClr val="007AFF"/>
                </a:solidFill>
                <a:latin typeface="Helvetica Neue"/>
              </a:defRPr>
            </a:pPr>
            <a:r>
              <a:t>Question 30</a:t>
            </a:r>
          </a:p>
        </p:txBody>
      </p:sp>
      <p:sp>
        <p:nvSpPr>
          <p:cNvPr id="3" name="TextBox 2"/>
          <p:cNvSpPr txBox="1"/>
          <p:nvPr/>
        </p:nvSpPr>
        <p:spPr>
          <a:xfrm>
            <a:off x="731520" y="1097280"/>
            <a:ext cx="9144000" cy="1097280"/>
          </a:xfrm>
          <a:prstGeom prst="rect">
            <a:avLst/>
          </a:prstGeom>
          <a:noFill/>
        </p:spPr>
        <p:txBody>
          <a:bodyPr wrap="square">
            <a:spAutoFit/>
          </a:bodyPr>
          <a:lstStyle/>
          <a:p>
            <a:pPr algn="l">
              <a:defRPr sz="2600" b="1">
                <a:solidFill>
                  <a:srgbClr val="333333"/>
                </a:solidFill>
                <a:latin typeface="Helvetica Neue"/>
              </a:defRPr>
            </a:pPr>
            <a:r>
              <a:t>What does OHV (Overhead Valve) mean?</a:t>
            </a:r>
          </a:p>
        </p:txBody>
      </p:sp>
      <p:sp>
        <p:nvSpPr>
          <p:cNvPr id="4" name="TextBox 3"/>
          <p:cNvSpPr txBox="1"/>
          <p:nvPr/>
        </p:nvSpPr>
        <p:spPr>
          <a:xfrm>
            <a:off x="1097280" y="2560320"/>
            <a:ext cx="9144000" cy="457200"/>
          </a:xfrm>
          <a:prstGeom prst="rect">
            <a:avLst/>
          </a:prstGeom>
          <a:noFill/>
        </p:spPr>
        <p:txBody>
          <a:bodyPr wrap="square">
            <a:spAutoFit/>
          </a:bodyPr>
          <a:lstStyle/>
          <a:p>
            <a:r>
              <a:rPr sz="1800" b="1">
                <a:solidFill>
                  <a:srgbClr val="333333"/>
                </a:solidFill>
                <a:latin typeface="Helvetica Neue"/>
              </a:rPr>
              <a:t>A.  </a:t>
            </a:r>
            <a:r>
              <a:rPr sz="1800" b="0">
                <a:solidFill>
                  <a:srgbClr val="333333"/>
                </a:solidFill>
                <a:latin typeface="Helvetica Neue"/>
              </a:rPr>
              <a:t>The valves are located on the side of the cylinder block</a:t>
            </a:r>
          </a:p>
        </p:txBody>
      </p:sp>
      <p:sp>
        <p:nvSpPr>
          <p:cNvPr id="5" name="TextBox 4"/>
          <p:cNvSpPr txBox="1"/>
          <p:nvPr/>
        </p:nvSpPr>
        <p:spPr>
          <a:xfrm>
            <a:off x="1097280" y="3291840"/>
            <a:ext cx="9144000" cy="457200"/>
          </a:xfrm>
          <a:prstGeom prst="rect">
            <a:avLst/>
          </a:prstGeom>
          <a:noFill/>
        </p:spPr>
        <p:txBody>
          <a:bodyPr wrap="square">
            <a:spAutoFit/>
          </a:bodyPr>
          <a:lstStyle/>
          <a:p>
            <a:r>
              <a:rPr sz="1800" b="1">
                <a:solidFill>
                  <a:srgbClr val="333333"/>
                </a:solidFill>
                <a:latin typeface="Helvetica Neue"/>
              </a:rPr>
              <a:t>B.  </a:t>
            </a:r>
            <a:r>
              <a:rPr sz="1800" b="0">
                <a:solidFill>
                  <a:srgbClr val="333333"/>
                </a:solidFill>
                <a:latin typeface="Helvetica Neue"/>
              </a:rPr>
              <a:t>The camshaft is located above the valves in the cylinder head</a:t>
            </a:r>
          </a:p>
        </p:txBody>
      </p:sp>
      <p:sp>
        <p:nvSpPr>
          <p:cNvPr id="6" name="TextBox 5"/>
          <p:cNvSpPr txBox="1"/>
          <p:nvPr/>
        </p:nvSpPr>
        <p:spPr>
          <a:xfrm>
            <a:off x="1097280" y="4023360"/>
            <a:ext cx="9144000" cy="457200"/>
          </a:xfrm>
          <a:prstGeom prst="rect">
            <a:avLst/>
          </a:prstGeom>
          <a:noFill/>
        </p:spPr>
        <p:txBody>
          <a:bodyPr wrap="square">
            <a:spAutoFit/>
          </a:bodyPr>
          <a:lstStyle/>
          <a:p>
            <a:r>
              <a:rPr sz="1800" b="1">
                <a:solidFill>
                  <a:srgbClr val="333333"/>
                </a:solidFill>
                <a:latin typeface="Helvetica Neue"/>
              </a:rPr>
              <a:t>C.  </a:t>
            </a:r>
            <a:r>
              <a:rPr sz="1800" b="0">
                <a:solidFill>
                  <a:srgbClr val="333333"/>
                </a:solidFill>
                <a:latin typeface="Helvetica Neue"/>
              </a:rPr>
              <a:t>The engine has no valves and uses ports instead</a:t>
            </a:r>
          </a:p>
        </p:txBody>
      </p:sp>
      <p:sp>
        <p:nvSpPr>
          <p:cNvPr id="7" name="TextBox 6"/>
          <p:cNvSpPr txBox="1"/>
          <p:nvPr/>
        </p:nvSpPr>
        <p:spPr>
          <a:xfrm>
            <a:off x="1097280" y="4754880"/>
            <a:ext cx="9144000" cy="457200"/>
          </a:xfrm>
          <a:prstGeom prst="rect">
            <a:avLst/>
          </a:prstGeom>
          <a:noFill/>
        </p:spPr>
        <p:txBody>
          <a:bodyPr wrap="square">
            <a:spAutoFit/>
          </a:bodyPr>
          <a:lstStyle/>
          <a:p>
            <a:r>
              <a:rPr sz="1800" b="1">
                <a:solidFill>
                  <a:srgbClr val="333333"/>
                </a:solidFill>
                <a:latin typeface="Helvetica Neue"/>
              </a:rPr>
              <a:t>D.  </a:t>
            </a:r>
            <a:r>
              <a:rPr sz="1800" b="0">
                <a:solidFill>
                  <a:srgbClr val="333333"/>
                </a:solidFill>
                <a:latin typeface="Helvetica Neue"/>
              </a:rPr>
              <a:t>The valves are located in the cylinder head above the piston, with the camshaft in the block driving them via pushrods or tappets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400" b="1">
                <a:solidFill>
                  <a:srgbClr val="34C759"/>
                </a:solidFill>
                <a:latin typeface="Helvetica Neue"/>
              </a:defRPr>
            </a:pPr>
            <a:r>
              <a:t>Question 30 — Answer</a:t>
            </a:r>
          </a:p>
        </p:txBody>
      </p:sp>
      <p:sp>
        <p:nvSpPr>
          <p:cNvPr id="3" name="TextBox 2"/>
          <p:cNvSpPr txBox="1"/>
          <p:nvPr/>
        </p:nvSpPr>
        <p:spPr>
          <a:xfrm>
            <a:off x="731520" y="914400"/>
            <a:ext cx="9144000" cy="914400"/>
          </a:xfrm>
          <a:prstGeom prst="rect">
            <a:avLst/>
          </a:prstGeom>
          <a:noFill/>
        </p:spPr>
        <p:txBody>
          <a:bodyPr wrap="square">
            <a:spAutoFit/>
          </a:bodyPr>
          <a:lstStyle/>
          <a:p>
            <a:pPr algn="l">
              <a:defRPr sz="2200" b="1">
                <a:solidFill>
                  <a:srgbClr val="333333"/>
                </a:solidFill>
                <a:latin typeface="Helvetica Neue"/>
              </a:defRPr>
            </a:pPr>
            <a:r>
              <a:t>What does OHV (Overhead Valve) mean?</a:t>
            </a:r>
          </a:p>
        </p:txBody>
      </p:sp>
      <p:sp>
        <p:nvSpPr>
          <p:cNvPr id="4" name="TextBox 3"/>
          <p:cNvSpPr txBox="1"/>
          <p:nvPr/>
        </p:nvSpPr>
        <p:spPr>
          <a:xfrm>
            <a:off x="1097280" y="2011680"/>
            <a:ext cx="9144000" cy="457200"/>
          </a:xfrm>
          <a:prstGeom prst="rect">
            <a:avLst/>
          </a:prstGeom>
          <a:noFill/>
        </p:spPr>
        <p:txBody>
          <a:bodyPr wrap="square">
            <a:spAutoFit/>
          </a:bodyPr>
          <a:lstStyle/>
          <a:p>
            <a:r>
              <a:rPr sz="1700" b="1">
                <a:solidFill>
                  <a:srgbClr val="BBBBBB"/>
                </a:solidFill>
                <a:latin typeface="Helvetica Neue"/>
              </a:rPr>
              <a:t>A.  </a:t>
            </a:r>
            <a:r>
              <a:rPr sz="1700" b="0">
                <a:solidFill>
                  <a:srgbClr val="BBBBBB"/>
                </a:solidFill>
                <a:latin typeface="Helvetica Neue"/>
              </a:rPr>
              <a:t>The valves are located on the side of the cylinder block</a:t>
            </a:r>
          </a:p>
        </p:txBody>
      </p:sp>
      <p:sp>
        <p:nvSpPr>
          <p:cNvPr id="5" name="TextBox 4"/>
          <p:cNvSpPr txBox="1"/>
          <p:nvPr/>
        </p:nvSpPr>
        <p:spPr>
          <a:xfrm>
            <a:off x="1097280" y="2606040"/>
            <a:ext cx="9144000" cy="457200"/>
          </a:xfrm>
          <a:prstGeom prst="rect">
            <a:avLst/>
          </a:prstGeom>
          <a:noFill/>
        </p:spPr>
        <p:txBody>
          <a:bodyPr wrap="square">
            <a:spAutoFit/>
          </a:bodyPr>
          <a:lstStyle/>
          <a:p>
            <a:r>
              <a:rPr sz="1700" b="1">
                <a:solidFill>
                  <a:srgbClr val="BBBBBB"/>
                </a:solidFill>
                <a:latin typeface="Helvetica Neue"/>
              </a:rPr>
              <a:t>B.  </a:t>
            </a:r>
            <a:r>
              <a:rPr sz="1700" b="0">
                <a:solidFill>
                  <a:srgbClr val="BBBBBB"/>
                </a:solidFill>
                <a:latin typeface="Helvetica Neue"/>
              </a:rPr>
              <a:t>The camshaft is located above the valves in the cylinder head</a:t>
            </a:r>
          </a:p>
        </p:txBody>
      </p:sp>
      <p:sp>
        <p:nvSpPr>
          <p:cNvPr id="6" name="TextBox 5"/>
          <p:cNvSpPr txBox="1"/>
          <p:nvPr/>
        </p:nvSpPr>
        <p:spPr>
          <a:xfrm>
            <a:off x="1097280" y="3200400"/>
            <a:ext cx="9144000" cy="457200"/>
          </a:xfrm>
          <a:prstGeom prst="rect">
            <a:avLst/>
          </a:prstGeom>
          <a:noFill/>
        </p:spPr>
        <p:txBody>
          <a:bodyPr wrap="square">
            <a:spAutoFit/>
          </a:bodyPr>
          <a:lstStyle/>
          <a:p>
            <a:r>
              <a:rPr sz="1700" b="1">
                <a:solidFill>
                  <a:srgbClr val="BBBBBB"/>
                </a:solidFill>
                <a:latin typeface="Helvetica Neue"/>
              </a:rPr>
              <a:t>C.  </a:t>
            </a:r>
            <a:r>
              <a:rPr sz="1700" b="0">
                <a:solidFill>
                  <a:srgbClr val="BBBBBB"/>
                </a:solidFill>
                <a:latin typeface="Helvetica Neue"/>
              </a:rPr>
              <a:t>The engine has no valves and uses ports instead</a:t>
            </a:r>
          </a:p>
        </p:txBody>
      </p:sp>
      <p:sp>
        <p:nvSpPr>
          <p:cNvPr id="7" name="TextBox 6"/>
          <p:cNvSpPr txBox="1"/>
          <p:nvPr/>
        </p:nvSpPr>
        <p:spPr>
          <a:xfrm>
            <a:off x="1097280" y="3794760"/>
            <a:ext cx="9144000" cy="457200"/>
          </a:xfrm>
          <a:prstGeom prst="rect">
            <a:avLst/>
          </a:prstGeom>
          <a:noFill/>
        </p:spPr>
        <p:txBody>
          <a:bodyPr wrap="square">
            <a:spAutoFit/>
          </a:bodyPr>
          <a:lstStyle/>
          <a:p>
            <a:r>
              <a:rPr sz="1700" b="1">
                <a:solidFill>
                  <a:srgbClr val="34C759"/>
                </a:solidFill>
                <a:latin typeface="Helvetica Neue"/>
              </a:rPr>
              <a:t>D.  </a:t>
            </a:r>
            <a:r>
              <a:rPr sz="1700" b="1">
                <a:solidFill>
                  <a:srgbClr val="007AFF"/>
                </a:solidFill>
                <a:latin typeface="Helvetica Neue"/>
              </a:rPr>
              <a:t>The valves are located in the cylinder head above the piston, with the camshaft in the block driving them via pushrods or tappets</a:t>
            </a:r>
          </a:p>
        </p:txBody>
      </p:sp>
      <p:sp>
        <p:nvSpPr>
          <p:cNvPr id="8" name="Rounded Rectangle 7"/>
          <p:cNvSpPr/>
          <p:nvPr/>
        </p:nvSpPr>
        <p:spPr>
          <a:xfrm>
            <a:off x="731520" y="4754880"/>
            <a:ext cx="10515600" cy="10972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r>
              <a:rPr sz="1300" b="1">
                <a:solidFill>
                  <a:srgbClr val="007AFF"/>
                </a:solidFill>
                <a:latin typeface="Helvetica Neue"/>
              </a:rPr>
              <a:t>Think About It:  </a:t>
            </a:r>
            <a:r>
              <a:rPr sz="1300">
                <a:solidFill>
                  <a:srgbClr val="333333"/>
                </a:solidFill>
                <a:latin typeface="Helvetica Neue"/>
              </a:rPr>
              <a:t>OHV = Overhead Valve. Valves are OVERHEAD (in the head), but the camshaft stays DOWN in the block. Cam pushes up through tappets and pushrods to reach the valves above.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097280"/>
            <a:ext cx="10058400" cy="914400"/>
          </a:xfrm>
          <a:prstGeom prst="rect">
            <a:avLst/>
          </a:prstGeom>
          <a:noFill/>
        </p:spPr>
        <p:txBody>
          <a:bodyPr wrap="square">
            <a:spAutoFit/>
          </a:bodyPr>
          <a:lstStyle/>
          <a:p>
            <a:pPr algn="ctr">
              <a:defRPr sz="4000" b="1">
                <a:solidFill>
                  <a:srgbClr val="333333"/>
                </a:solidFill>
                <a:latin typeface="Helvetica Neue"/>
              </a:defRPr>
            </a:pPr>
            <a:r>
              <a:t>Key Takeaways</a:t>
            </a:r>
          </a:p>
        </p:txBody>
      </p:sp>
      <p:sp>
        <p:nvSpPr>
          <p:cNvPr id="3" name="TextBox 2"/>
          <p:cNvSpPr txBox="1"/>
          <p:nvPr/>
        </p:nvSpPr>
        <p:spPr>
          <a:xfrm>
            <a:off x="1097280" y="2377440"/>
            <a:ext cx="9601200" cy="548640"/>
          </a:xfrm>
          <a:prstGeom prst="rect">
            <a:avLst/>
          </a:prstGeom>
          <a:noFill/>
        </p:spPr>
        <p:txBody>
          <a:bodyPr wrap="square">
            <a:spAutoFit/>
          </a:bodyPr>
          <a:lstStyle/>
          <a:p>
            <a:pPr algn="l">
              <a:defRPr sz="1600" b="0">
                <a:solidFill>
                  <a:srgbClr val="333333"/>
                </a:solidFill>
                <a:latin typeface="Helvetica Neue"/>
              </a:defRPr>
            </a:pPr>
            <a:r>
              <a:t>→  Know the air-fuel path: filter → carb → intake valve → cylinder → exhaust valve → muffler</a:t>
            </a:r>
          </a:p>
        </p:txBody>
      </p:sp>
      <p:sp>
        <p:nvSpPr>
          <p:cNvPr id="4" name="TextBox 3"/>
          <p:cNvSpPr txBox="1"/>
          <p:nvPr/>
        </p:nvSpPr>
        <p:spPr>
          <a:xfrm>
            <a:off x="1097280" y="3063240"/>
            <a:ext cx="9601200" cy="548640"/>
          </a:xfrm>
          <a:prstGeom prst="rect">
            <a:avLst/>
          </a:prstGeom>
          <a:noFill/>
        </p:spPr>
        <p:txBody>
          <a:bodyPr wrap="square">
            <a:spAutoFit/>
          </a:bodyPr>
          <a:lstStyle/>
          <a:p>
            <a:pPr algn="l">
              <a:defRPr sz="1600" b="0">
                <a:solidFill>
                  <a:srgbClr val="333333"/>
                </a:solidFill>
                <a:latin typeface="Helvetica Neue"/>
              </a:defRPr>
            </a:pPr>
            <a:r>
              <a:t>→  Know the valve chain: cam lobe → tappet → pushrod → rocker arm → valve opens → spring closes</a:t>
            </a:r>
          </a:p>
        </p:txBody>
      </p:sp>
      <p:sp>
        <p:nvSpPr>
          <p:cNvPr id="5" name="TextBox 4"/>
          <p:cNvSpPr txBox="1"/>
          <p:nvPr/>
        </p:nvSpPr>
        <p:spPr>
          <a:xfrm>
            <a:off x="1097280" y="3749039"/>
            <a:ext cx="9601200" cy="548640"/>
          </a:xfrm>
          <a:prstGeom prst="rect">
            <a:avLst/>
          </a:prstGeom>
          <a:noFill/>
        </p:spPr>
        <p:txBody>
          <a:bodyPr wrap="square">
            <a:spAutoFit/>
          </a:bodyPr>
          <a:lstStyle/>
          <a:p>
            <a:pPr algn="l">
              <a:defRPr sz="1600" b="0">
                <a:solidFill>
                  <a:srgbClr val="333333"/>
                </a:solidFill>
                <a:latin typeface="Helvetica Neue"/>
              </a:defRPr>
            </a:pPr>
            <a:r>
              <a:t>→  Know the cycle: Intake → Compression → Power → Exhaust (Suck, Squeeze, Bang, Blow)</a:t>
            </a:r>
          </a:p>
        </p:txBody>
      </p:sp>
      <p:sp>
        <p:nvSpPr>
          <p:cNvPr id="6" name="TextBox 5"/>
          <p:cNvSpPr txBox="1"/>
          <p:nvPr/>
        </p:nvSpPr>
        <p:spPr>
          <a:xfrm>
            <a:off x="1097280" y="4434840"/>
            <a:ext cx="9601200" cy="548640"/>
          </a:xfrm>
          <a:prstGeom prst="rect">
            <a:avLst/>
          </a:prstGeom>
          <a:noFill/>
        </p:spPr>
        <p:txBody>
          <a:bodyPr wrap="square">
            <a:spAutoFit/>
          </a:bodyPr>
          <a:lstStyle/>
          <a:p>
            <a:pPr algn="l">
              <a:defRPr sz="1600" b="0">
                <a:solidFill>
                  <a:srgbClr val="333333"/>
                </a:solidFill>
                <a:latin typeface="Helvetica Neue"/>
              </a:defRPr>
            </a:pPr>
            <a:r>
              <a:t>→  Know your engine: Single-cylinder, four-stroke, air-cooled, OHV</a:t>
            </a:r>
          </a:p>
        </p:txBody>
      </p:sp>
      <p:sp>
        <p:nvSpPr>
          <p:cNvPr id="7" name="TextBox 6"/>
          <p:cNvSpPr txBox="1"/>
          <p:nvPr/>
        </p:nvSpPr>
        <p:spPr>
          <a:xfrm>
            <a:off x="1097280" y="5120640"/>
            <a:ext cx="9601200" cy="548640"/>
          </a:xfrm>
          <a:prstGeom prst="rect">
            <a:avLst/>
          </a:prstGeom>
          <a:noFill/>
        </p:spPr>
        <p:txBody>
          <a:bodyPr wrap="square">
            <a:spAutoFit/>
          </a:bodyPr>
          <a:lstStyle/>
          <a:p>
            <a:pPr algn="l">
              <a:defRPr sz="1600" b="0">
                <a:solidFill>
                  <a:srgbClr val="333333"/>
                </a:solidFill>
                <a:latin typeface="Helvetica Neue"/>
              </a:defRPr>
            </a:pPr>
            <a:r>
              <a:t>→  When in doubt — trace the path of air, fuel, force, or motion through the engine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5F7"/>
        </a:solidFill>
        <a:effectLst/>
      </p:bgPr>
    </p:bg>
    <p:spTree>
      <p:nvGrpSpPr>
        <p:cNvPr id="1" name=""/>
        <p:cNvGrpSpPr/>
        <p:nvPr/>
      </p:nvGrpSpPr>
      <p:grpSpPr/>
      <p:sp>
        <p:nvSpPr>
          <p:cNvPr id="2" name="TextBox 1"/>
          <p:cNvSpPr txBox="1"/>
          <p:nvPr/>
        </p:nvSpPr>
        <p:spPr>
          <a:xfrm>
            <a:off x="914400" y="2286000"/>
            <a:ext cx="10058400" cy="914400"/>
          </a:xfrm>
          <a:prstGeom prst="rect">
            <a:avLst/>
          </a:prstGeom>
          <a:noFill/>
        </p:spPr>
        <p:txBody>
          <a:bodyPr wrap="square">
            <a:spAutoFit/>
          </a:bodyPr>
          <a:lstStyle/>
          <a:p>
            <a:pPr algn="ctr">
              <a:defRPr sz="3600" b="1">
                <a:solidFill>
                  <a:srgbClr val="333333"/>
                </a:solidFill>
                <a:latin typeface="Helvetica Neue"/>
              </a:defRPr>
            </a:pPr>
            <a:r>
              <a:t>Crescent Valley High School</a:t>
            </a:r>
          </a:p>
        </p:txBody>
      </p:sp>
      <p:sp>
        <p:nvSpPr>
          <p:cNvPr id="3" name="TextBox 2"/>
          <p:cNvSpPr txBox="1"/>
          <p:nvPr/>
        </p:nvSpPr>
        <p:spPr>
          <a:xfrm>
            <a:off x="914400" y="3200400"/>
            <a:ext cx="10058400" cy="548640"/>
          </a:xfrm>
          <a:prstGeom prst="rect">
            <a:avLst/>
          </a:prstGeom>
          <a:noFill/>
        </p:spPr>
        <p:txBody>
          <a:bodyPr wrap="square">
            <a:spAutoFit/>
          </a:bodyPr>
          <a:lstStyle/>
          <a:p>
            <a:pPr algn="ctr">
              <a:defRPr sz="2200" b="0">
                <a:solidFill>
                  <a:srgbClr val="999999"/>
                </a:solidFill>
                <a:latin typeface="Helvetica Neue"/>
              </a:defRPr>
            </a:pPr>
            <a:r>
              <a:t>Engines &amp; Fabrication Program</a:t>
            </a:r>
          </a:p>
        </p:txBody>
      </p:sp>
      <p:sp>
        <p:nvSpPr>
          <p:cNvPr id="4" name="TextBox 3"/>
          <p:cNvSpPr txBox="1"/>
          <p:nvPr/>
        </p:nvSpPr>
        <p:spPr>
          <a:xfrm>
            <a:off x="914400" y="4114800"/>
            <a:ext cx="10058400" cy="548640"/>
          </a:xfrm>
          <a:prstGeom prst="rect">
            <a:avLst/>
          </a:prstGeom>
          <a:noFill/>
        </p:spPr>
        <p:txBody>
          <a:bodyPr wrap="square">
            <a:spAutoFit/>
          </a:bodyPr>
          <a:lstStyle/>
          <a:p>
            <a:pPr algn="ctr">
              <a:defRPr sz="1600" b="0">
                <a:solidFill>
                  <a:srgbClr val="999999"/>
                </a:solidFill>
                <a:latin typeface="Helvetica Neue"/>
              </a:defRPr>
            </a:pPr>
            <a:r>
              <a:t>Mr. McAteer  |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